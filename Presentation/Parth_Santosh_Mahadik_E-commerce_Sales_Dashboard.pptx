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82" r:id="rId9"/>
    <p:sldId id="576" r:id="rId10"/>
    <p:sldId id="581" r:id="rId11"/>
    <p:sldId id="580"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98" d="100"/>
          <a:sy n="98" d="100"/>
        </p:scale>
        <p:origin x="106" y="158"/>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ParthMahadik04/ecommerce-sales-dashboard.git"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arthMahadik04/ecommerce-sales-dashboard.git" TargetMode="External"/><Relationship Id="rId2" Type="http://schemas.openxmlformats.org/officeDocument/2006/relationships/hyperlink" Target="https://www.kaggle.com/datasets/rohitsahoo/sales-forecasting"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dirty="0"/>
              <a:t>E-Commerce Sales Performance Dashboard</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540581"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dirty="0"/>
              <a:t>Presented By</a:t>
            </a:r>
            <a:endParaRPr lang="en-US" sz="1600" dirty="0"/>
          </a:p>
          <a:p>
            <a:pPr algn="l">
              <a:spcAft>
                <a:spcPts val="600"/>
              </a:spcAft>
            </a:pPr>
            <a:r>
              <a:rPr lang="en-US" sz="1600" b="1" dirty="0"/>
              <a:t>Student Name: Parth Santosh Mahadik</a:t>
            </a:r>
          </a:p>
          <a:p>
            <a:pPr algn="l">
              <a:spcAft>
                <a:spcPts val="600"/>
              </a:spcAft>
            </a:pPr>
            <a:r>
              <a:rPr lang="en-US" sz="1600" b="1" dirty="0"/>
              <a:t>College Name: Sandip University</a:t>
            </a:r>
          </a:p>
          <a:p>
            <a:pPr algn="l">
              <a:spcAft>
                <a:spcPts val="600"/>
              </a:spcAft>
            </a:pPr>
            <a:r>
              <a:rPr lang="en-US" sz="1600" b="1" dirty="0"/>
              <a:t>Department: B.Tech CSE</a:t>
            </a:r>
          </a:p>
          <a:p>
            <a:pPr algn="l">
              <a:spcAft>
                <a:spcPts val="600"/>
              </a:spcAft>
            </a:pPr>
            <a:r>
              <a:rPr lang="en-US" sz="1600" b="1" dirty="0"/>
              <a:t>Email ID</a:t>
            </a:r>
            <a:r>
              <a:rPr lang="en-US" sz="1600" b="1" cap="all" dirty="0"/>
              <a:t>: </a:t>
            </a:r>
            <a:r>
              <a:rPr lang="en-US" sz="1600" b="1" dirty="0"/>
              <a:t>parthmahadik08@gmail.com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7A26B1A4-9334-6A02-695B-881D82C991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3978" y="879545"/>
            <a:ext cx="3822018" cy="4920428"/>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Currently, the management team of an e-commerce retail store struggles to quickly understand their sales performance and profitability over time. </a:t>
            </a:r>
          </a:p>
          <a:p>
            <a:pPr marL="0" indent="0">
              <a:buNone/>
            </a:pPr>
            <a:r>
              <a:rPr lang="en-US" sz="2400" dirty="0"/>
              <a:t>Data is stored in massive, difficult-to-read transactional spreadsheets. </a:t>
            </a:r>
          </a:p>
          <a:p>
            <a:pPr marL="0" indent="0">
              <a:buNone/>
            </a:pPr>
            <a:r>
              <a:rPr lang="en-US" sz="2400" dirty="0"/>
              <a:t>This makes it challenging to identify which product categories are driving revenue, which customer segments are the most profitable, and whether certain regions or shipping methods are causing financial losses.</a:t>
            </a:r>
          </a:p>
          <a:p>
            <a:pPr marL="0" indent="0">
              <a:buNone/>
            </a:pPr>
            <a:r>
              <a:rPr lang="en-US" sz="2400" dirty="0"/>
              <a:t>Eventually, providing the executive team with a clear, interactive, and accurate overview becomes a major concern for making data-driven business decisions.</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0" y="758755"/>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391013" y="1421537"/>
            <a:ext cx="10515600" cy="4251960"/>
          </a:xfrm>
        </p:spPr>
        <p:txBody>
          <a:bodyPr vert="horz" lIns="91440" tIns="45720" rIns="91440" bIns="45720" rtlCol="0" anchor="t">
            <a:noAutofit/>
          </a:bodyPr>
          <a:lstStyle/>
          <a:p>
            <a:pPr marL="0" indent="0">
              <a:buNone/>
            </a:pPr>
            <a:r>
              <a:rPr lang="en-US" sz="2000" dirty="0"/>
              <a:t>The proposed system aims to address the challenge of data visibility by developing a fully interactive Business Intelligence (BI) dashboard. This involves leveraging data analytics and visualization techniques to uncover business trends. The solution consists of the following components:</a:t>
            </a:r>
          </a:p>
          <a:p>
            <a:r>
              <a:rPr lang="en-US" sz="2000" b="1" dirty="0"/>
              <a:t>Data Collection:</a:t>
            </a:r>
            <a:r>
              <a:rPr lang="en-US" sz="2000" dirty="0"/>
              <a:t> Gathered historical e-commerce sales data comprising over 9,800 records, including order dates, geographic locations, product categories, and financial metrics.</a:t>
            </a:r>
          </a:p>
          <a:p>
            <a:r>
              <a:rPr lang="en-US" sz="2000" b="1" dirty="0"/>
              <a:t>Data Preprocessing:</a:t>
            </a:r>
            <a:r>
              <a:rPr lang="en-US" sz="2000" dirty="0"/>
              <a:t> Cleaned the raw data to handle missing values (e.g., missing postal codes) and corrected data types. Addressed date formatting issues by splitting and merging columns into a universal 'YYYY-MM-DD' format.</a:t>
            </a:r>
          </a:p>
          <a:p>
            <a:r>
              <a:rPr lang="en-US" sz="2000" b="1" dirty="0"/>
              <a:t>Feature Engineering:</a:t>
            </a:r>
            <a:r>
              <a:rPr lang="en-US" sz="2000" dirty="0"/>
              <a:t> Created custom columns, such as Delivery Days (calculating the difference between Order Date and Ship Date), and engineered DAX measures including Total Sales, Total Orders, and Average Order Value.</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5" name="Rectangle 2">
            <a:extLst>
              <a:ext uri="{FF2B5EF4-FFF2-40B4-BE49-F238E27FC236}">
                <a16:creationId xmlns:a16="http://schemas.microsoft.com/office/drawing/2014/main" id="{621DFFD4-6634-FBDD-685E-F6D8A877763A}"/>
              </a:ext>
            </a:extLst>
          </p:cNvPr>
          <p:cNvSpPr>
            <a:spLocks noGrp="1" noChangeArrowheads="1"/>
          </p:cNvSpPr>
          <p:nvPr>
            <p:ph idx="1"/>
          </p:nvPr>
        </p:nvSpPr>
        <p:spPr bwMode="auto">
          <a:xfrm>
            <a:off x="333132" y="1516197"/>
            <a:ext cx="1042083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Visualization &amp; Modeling:</a:t>
            </a:r>
            <a:r>
              <a:rPr kumimoji="0" lang="en-US" altLang="en-US" sz="2400" b="0" i="0" u="none" strike="noStrike" cap="none" normalizeH="0" baseline="0" dirty="0">
                <a:ln>
                  <a:noFill/>
                </a:ln>
                <a:solidFill>
                  <a:schemeClr val="tx1"/>
                </a:solidFill>
                <a:effectLst/>
                <a:latin typeface="Arial" panose="020B0604020202020204" pitchFamily="34" charset="0"/>
              </a:rPr>
              <a:t> Microsoft Power BI Desktop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Transformation:</a:t>
            </a:r>
            <a:r>
              <a:rPr kumimoji="0" lang="en-US" altLang="en-US" sz="2400" b="0" i="0" u="none" strike="noStrike" cap="none" normalizeH="0" baseline="0" dirty="0">
                <a:ln>
                  <a:noFill/>
                </a:ln>
                <a:solidFill>
                  <a:schemeClr val="tx1"/>
                </a:solidFill>
                <a:effectLst/>
                <a:latin typeface="Arial" panose="020B0604020202020204" pitchFamily="34" charset="0"/>
              </a:rPr>
              <a:t> Power Query Editor (used for ETL - Extract, Transform, Load processes)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Analytics Language:</a:t>
            </a:r>
            <a:r>
              <a:rPr kumimoji="0" lang="en-US" altLang="en-US" sz="2400" b="0" i="0" u="none" strike="noStrike" cap="none" normalizeH="0" baseline="0" dirty="0">
                <a:ln>
                  <a:noFill/>
                </a:ln>
                <a:solidFill>
                  <a:schemeClr val="tx1"/>
                </a:solidFill>
                <a:effectLst/>
                <a:latin typeface="Arial" panose="020B0604020202020204" pitchFamily="34" charset="0"/>
              </a:rPr>
              <a:t> DAX (Data Analysis Expressions) for creating custom aggregate measures.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Dataset:</a:t>
            </a:r>
            <a:r>
              <a:rPr kumimoji="0" lang="en-US" altLang="en-US" sz="2400" b="0" i="0" u="none" strike="noStrike" cap="none" normalizeH="0" baseline="0" dirty="0">
                <a:ln>
                  <a:noFill/>
                </a:ln>
                <a:solidFill>
                  <a:schemeClr val="tx1"/>
                </a:solidFill>
                <a:effectLst/>
                <a:latin typeface="Arial" panose="020B0604020202020204" pitchFamily="34" charset="0"/>
              </a:rPr>
              <a:t> Flat file data modeling (CSV format).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r>
              <a:rPr lang="en-US" sz="2400" dirty="0"/>
              <a:t>Details on how the dashboard was constructed to provide interactive insights.</a:t>
            </a:r>
          </a:p>
          <a:p>
            <a:r>
              <a:rPr lang="en-US" sz="2400" b="1" dirty="0"/>
              <a:t>Data Modeling:</a:t>
            </a:r>
            <a:r>
              <a:rPr lang="en-US" sz="2400" dirty="0"/>
              <a:t> Utilized a single-table flat file structure optimized for high-speed filtering and analysis.</a:t>
            </a:r>
          </a:p>
          <a:p>
            <a:r>
              <a:rPr lang="en-US" sz="2400" b="1" dirty="0"/>
              <a:t>Measure Creation:</a:t>
            </a:r>
            <a:r>
              <a:rPr lang="en-US" sz="2400" dirty="0"/>
              <a:t> Developed dynamic DAX measures that recalculate instantly based on user filters.</a:t>
            </a:r>
          </a:p>
          <a:p>
            <a:r>
              <a:rPr lang="en-US" sz="2400" b="1" dirty="0"/>
              <a:t>Dashboard creation:</a:t>
            </a:r>
            <a:r>
              <a:rPr lang="en-US" sz="2400" dirty="0"/>
              <a:t> Built a multi-page dashboard (Overview and Details pages) using synced slicers for cross-filtering. Implemented professional design principles including a clean layout, a suitable color theme, and custom page navigation buttons.</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2B1B77-735A-8047-2224-C1DAACA92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50F9A-929D-596C-B9B1-543E75F04ACC}"/>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0AD3AFDA-37F8-04F3-BB25-FBCD7E65248C}"/>
              </a:ext>
            </a:extLst>
          </p:cNvPr>
          <p:cNvSpPr>
            <a:spLocks noGrp="1"/>
          </p:cNvSpPr>
          <p:nvPr>
            <p:ph idx="1"/>
          </p:nvPr>
        </p:nvSpPr>
        <p:spPr>
          <a:xfrm>
            <a:off x="266700" y="1572195"/>
            <a:ext cx="10515600" cy="5000543"/>
          </a:xfrm>
        </p:spPr>
        <p:txBody>
          <a:bodyPr vert="horz" lIns="91440" tIns="45720" rIns="91440" bIns="45720" rtlCol="0">
            <a:normAutofit fontScale="62500" lnSpcReduction="20000"/>
          </a:bodyPr>
          <a:lstStyle/>
          <a:p>
            <a:pPr>
              <a:buNone/>
            </a:pPr>
            <a:r>
              <a:rPr lang="en-US" b="1" dirty="0"/>
              <a:t>Dashboard Components &amp; Visual Analytics:</a:t>
            </a:r>
            <a:r>
              <a:rPr lang="en-US" dirty="0"/>
              <a:t> To provide a comprehensive view of the e-commerce data, specific Power BI visualizations were selected based on their analytical strengths:</a:t>
            </a:r>
          </a:p>
          <a:p>
            <a:pPr>
              <a:buFont typeface="Arial" panose="020B0604020202020204" pitchFamily="34" charset="0"/>
              <a:buChar char="•"/>
            </a:pPr>
            <a:r>
              <a:rPr lang="en-US" b="1" dirty="0"/>
              <a:t>Key Performance Indicators (KPI Cards):</a:t>
            </a:r>
            <a:r>
              <a:rPr lang="en-US" dirty="0"/>
              <a:t> </a:t>
            </a:r>
          </a:p>
          <a:p>
            <a:pPr marL="742950" lvl="1" indent="-285750"/>
            <a:r>
              <a:rPr lang="en-US" b="1" dirty="0"/>
              <a:t>Visuals Used: 4 Custom DAX Cards (Total Sales, Total Orders, Average Order Value, Total Customers).</a:t>
            </a:r>
          </a:p>
          <a:p>
            <a:pPr marL="742950" lvl="1" indent="-285750">
              <a:buFont typeface="Arial" panose="020B0604020202020204" pitchFamily="34" charset="0"/>
              <a:buChar char="•"/>
            </a:pPr>
            <a:r>
              <a:rPr lang="en-US" b="1" dirty="0"/>
              <a:t>Purpose:</a:t>
            </a:r>
            <a:r>
              <a:rPr lang="en-US" dirty="0"/>
              <a:t> To provide stakeholders with an immediate, high-level snapshot of the most critical business metrics at a single glance without needing to analyze complex charts.</a:t>
            </a:r>
          </a:p>
          <a:p>
            <a:pPr>
              <a:buFont typeface="Arial" panose="020B0604020202020204" pitchFamily="34" charset="0"/>
              <a:buChar char="•"/>
            </a:pPr>
            <a:r>
              <a:rPr lang="en-US" b="1" dirty="0"/>
              <a:t>Trend &amp; Categorical Analysis:</a:t>
            </a:r>
            <a:endParaRPr lang="en-US" dirty="0"/>
          </a:p>
          <a:p>
            <a:pPr marL="742950" lvl="1" indent="-285750">
              <a:buFont typeface="Arial" panose="020B0604020202020204" pitchFamily="34" charset="0"/>
              <a:buChar char="•"/>
            </a:pPr>
            <a:r>
              <a:rPr lang="en-US" b="1" dirty="0"/>
              <a:t>Visuals Used:</a:t>
            </a:r>
            <a:r>
              <a:rPr lang="en-US" dirty="0"/>
              <a:t> Line Chart &amp; Clustered Bar Charts.</a:t>
            </a:r>
          </a:p>
          <a:p>
            <a:pPr marL="742950" lvl="1" indent="-285750">
              <a:buFont typeface="Arial" panose="020B0604020202020204" pitchFamily="34" charset="0"/>
              <a:buChar char="•"/>
            </a:pPr>
            <a:r>
              <a:rPr lang="en-US" b="1" dirty="0"/>
              <a:t>Purpose:</a:t>
            </a:r>
            <a:r>
              <a:rPr lang="en-US" dirty="0"/>
              <a:t> The Line Chart tracks revenue growth and seasonal spikes over multiple years. The Bar Charts are used to rank the best-performing product Sub-Categories and filter for the "Top 10" most valuable customers.</a:t>
            </a:r>
          </a:p>
          <a:p>
            <a:pPr>
              <a:buFont typeface="Arial" panose="020B0604020202020204" pitchFamily="34" charset="0"/>
              <a:buChar char="•"/>
            </a:pPr>
            <a:r>
              <a:rPr lang="en-US" b="1" dirty="0"/>
              <a:t>Proportional &amp; Geographic Distribution:</a:t>
            </a:r>
            <a:endParaRPr lang="en-US" dirty="0"/>
          </a:p>
          <a:p>
            <a:pPr marL="742950" lvl="1" indent="-285750">
              <a:buFont typeface="Arial" panose="020B0604020202020204" pitchFamily="34" charset="0"/>
              <a:buChar char="•"/>
            </a:pPr>
            <a:r>
              <a:rPr lang="en-US" b="1" dirty="0"/>
              <a:t>Visuals Used:</a:t>
            </a:r>
            <a:r>
              <a:rPr lang="en-US" dirty="0"/>
              <a:t> Donut Chart, </a:t>
            </a:r>
            <a:r>
              <a:rPr lang="en-US" dirty="0" err="1"/>
              <a:t>Treemap</a:t>
            </a:r>
            <a:r>
              <a:rPr lang="en-US" dirty="0"/>
              <a:t>, and Map.</a:t>
            </a:r>
          </a:p>
          <a:p>
            <a:pPr marL="742950" lvl="1" indent="-285750">
              <a:buFont typeface="Arial" panose="020B0604020202020204" pitchFamily="34" charset="0"/>
              <a:buChar char="•"/>
            </a:pPr>
            <a:r>
              <a:rPr lang="en-US" b="1" dirty="0"/>
              <a:t>Purpose:</a:t>
            </a:r>
            <a:r>
              <a:rPr lang="en-US" dirty="0"/>
              <a:t> The Donut Chart and </a:t>
            </a:r>
            <a:r>
              <a:rPr lang="en-US" dirty="0" err="1"/>
              <a:t>Treemap</a:t>
            </a:r>
            <a:r>
              <a:rPr lang="en-US" dirty="0"/>
              <a:t> visually break down market share across different consumer segments (Consumer vs. Corporate) and major product categories. The Map visualizes regional dominance, showing exactly which states generate the most revenue.</a:t>
            </a:r>
          </a:p>
          <a:p>
            <a:pPr>
              <a:buFont typeface="Arial" panose="020B0604020202020204" pitchFamily="34" charset="0"/>
              <a:buChar char="•"/>
            </a:pPr>
            <a:r>
              <a:rPr lang="en-US" b="1" dirty="0"/>
              <a:t>Detailed Drill-Downs &amp; Custom Metrics:</a:t>
            </a:r>
            <a:endParaRPr lang="en-US" dirty="0"/>
          </a:p>
          <a:p>
            <a:pPr marL="742950" lvl="1" indent="-285750">
              <a:buFont typeface="Arial" panose="020B0604020202020204" pitchFamily="34" charset="0"/>
              <a:buChar char="•"/>
            </a:pPr>
            <a:r>
              <a:rPr lang="en-US" b="1" dirty="0"/>
              <a:t>Visuals Used:</a:t>
            </a:r>
            <a:r>
              <a:rPr lang="en-US" dirty="0"/>
              <a:t> Matrix Table (with conditional Data Bars) &amp; Column Chart.</a:t>
            </a:r>
          </a:p>
          <a:p>
            <a:pPr marL="742950" lvl="1" indent="-285750">
              <a:buFont typeface="Arial" panose="020B0604020202020204" pitchFamily="34" charset="0"/>
              <a:buChar char="•"/>
            </a:pPr>
            <a:r>
              <a:rPr lang="en-US" b="1" dirty="0"/>
              <a:t>Purpose:</a:t>
            </a:r>
            <a:r>
              <a:rPr lang="en-US" dirty="0"/>
              <a:t> The Matrix acts as an interactive pivot table, allowing users to drill down from broad Categories into individual Product Names to see specific sales performance. The Column Chart tracks supply chain efficiency by plotting the custom Delivery Days measure against different shipping modes.</a:t>
            </a:r>
          </a:p>
          <a:p>
            <a:pPr marL="0" indent="0">
              <a:buNone/>
            </a:pPr>
            <a:endParaRPr lang="en-US" sz="2400" dirty="0"/>
          </a:p>
        </p:txBody>
      </p:sp>
    </p:spTree>
    <p:extLst>
      <p:ext uri="{BB962C8B-B14F-4D97-AF65-F5344CB8AC3E}">
        <p14:creationId xmlns:p14="http://schemas.microsoft.com/office/powerpoint/2010/main" val="3033890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7231" y="783004"/>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6" y="1584103"/>
            <a:ext cx="11377126" cy="4251960"/>
          </a:xfrm>
        </p:spPr>
        <p:txBody>
          <a:bodyPr vert="horz" lIns="91440" tIns="45720" rIns="91440" bIns="45720" rtlCol="0">
            <a:normAutofit/>
          </a:bodyPr>
          <a:lstStyle/>
          <a:p>
            <a:pPr marL="0" indent="0">
              <a:buNone/>
            </a:pPr>
            <a:r>
              <a:rPr lang="en-US" sz="2400" dirty="0"/>
              <a:t>The final product is a highly interactive dashboard that allows stakeholders to drill down into specific years, regions, and product categories. </a:t>
            </a:r>
          </a:p>
          <a:p>
            <a:pPr marL="0" indent="0">
              <a:buNone/>
            </a:pPr>
            <a:r>
              <a:rPr lang="en-US" sz="2400" b="1" dirty="0"/>
              <a:t>Key Insights Discovered:</a:t>
            </a:r>
            <a:endParaRPr lang="en-US" sz="2400" dirty="0"/>
          </a:p>
          <a:p>
            <a:r>
              <a:rPr lang="en-US" sz="2400" b="1" dirty="0"/>
              <a:t>Category Performance:</a:t>
            </a:r>
            <a:r>
              <a:rPr lang="en-US" sz="2400" dirty="0"/>
              <a:t> The Technology category generates the highest revenue, while specific Sub-Categories (like Tables) operate at lower margins or net losses.</a:t>
            </a:r>
          </a:p>
          <a:p>
            <a:r>
              <a:rPr lang="en-US" sz="2400" b="1" dirty="0"/>
              <a:t>Customer Base:</a:t>
            </a:r>
            <a:r>
              <a:rPr lang="en-US" sz="2400" dirty="0"/>
              <a:t> The 'Consumer' segment drives the vast majority of overall sales compared to Corporate and Home Office segments.</a:t>
            </a:r>
          </a:p>
          <a:p>
            <a:r>
              <a:rPr lang="en-US" sz="2400" b="1" dirty="0"/>
              <a:t>Shipping Efficiency:</a:t>
            </a:r>
            <a:r>
              <a:rPr lang="en-US" sz="2400" dirty="0"/>
              <a:t> Standard Class shipping takes an average of ~5 days, which provides a baseline to evaluate supply chain efficiency.</a:t>
            </a:r>
          </a:p>
          <a:p>
            <a:r>
              <a:rPr lang="en-US" sz="2400" b="1" dirty="0" err="1"/>
              <a:t>Github</a:t>
            </a:r>
            <a:r>
              <a:rPr lang="en-US" sz="2400" b="1" dirty="0"/>
              <a:t> link: </a:t>
            </a:r>
            <a:r>
              <a:rPr lang="en-US" sz="2400" dirty="0">
                <a:hlinkClick r:id="rId2"/>
              </a:rPr>
              <a:t>https://github.com/ParthMahadik04/ecommerce-sales-dashboard.git</a:t>
            </a:r>
            <a:endParaRPr lang="en-US" sz="2400" dirty="0"/>
          </a:p>
          <a:p>
            <a:pPr marL="0" indent="0">
              <a:buNone/>
            </a:pPr>
            <a:endParaRPr lang="en-US" sz="2400" dirty="0"/>
          </a:p>
        </p:txBody>
      </p:sp>
    </p:spTree>
    <p:extLst>
      <p:ext uri="{BB962C8B-B14F-4D97-AF65-F5344CB8AC3E}">
        <p14:creationId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E512C8-E9A5-827B-33AA-EEEE32F0B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7EB6A-0F6E-40A6-7239-80DD74D5D55E}"/>
              </a:ext>
            </a:extLst>
          </p:cNvPr>
          <p:cNvSpPr>
            <a:spLocks noGrp="1"/>
          </p:cNvSpPr>
          <p:nvPr>
            <p:ph type="title"/>
          </p:nvPr>
        </p:nvSpPr>
        <p:spPr>
          <a:xfrm>
            <a:off x="0" y="650142"/>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pic>
        <p:nvPicPr>
          <p:cNvPr id="5" name="Picture 4">
            <a:extLst>
              <a:ext uri="{FF2B5EF4-FFF2-40B4-BE49-F238E27FC236}">
                <a16:creationId xmlns:a16="http://schemas.microsoft.com/office/drawing/2014/main" id="{64182F76-9057-1F25-07E0-6D8BA0A4373D}"/>
              </a:ext>
            </a:extLst>
          </p:cNvPr>
          <p:cNvPicPr>
            <a:picLocks noChangeAspect="1"/>
          </p:cNvPicPr>
          <p:nvPr/>
        </p:nvPicPr>
        <p:blipFill>
          <a:blip r:embed="rId2"/>
          <a:stretch>
            <a:fillRect/>
          </a:stretch>
        </p:blipFill>
        <p:spPr>
          <a:xfrm>
            <a:off x="1484922" y="1253545"/>
            <a:ext cx="8681623" cy="4954313"/>
          </a:xfrm>
          <a:prstGeom prst="rect">
            <a:avLst/>
          </a:prstGeom>
        </p:spPr>
      </p:pic>
      <p:sp>
        <p:nvSpPr>
          <p:cNvPr id="6" name="TextBox 5">
            <a:extLst>
              <a:ext uri="{FF2B5EF4-FFF2-40B4-BE49-F238E27FC236}">
                <a16:creationId xmlns:a16="http://schemas.microsoft.com/office/drawing/2014/main" id="{A7D9789B-F1EB-CE43-9C2D-BE8A2B3A6BF3}"/>
              </a:ext>
            </a:extLst>
          </p:cNvPr>
          <p:cNvSpPr txBox="1"/>
          <p:nvPr/>
        </p:nvSpPr>
        <p:spPr>
          <a:xfrm>
            <a:off x="4688595" y="6275754"/>
            <a:ext cx="2618790" cy="369332"/>
          </a:xfrm>
          <a:prstGeom prst="rect">
            <a:avLst/>
          </a:prstGeom>
          <a:noFill/>
        </p:spPr>
        <p:txBody>
          <a:bodyPr wrap="square" rtlCol="0">
            <a:spAutoFit/>
          </a:bodyPr>
          <a:lstStyle/>
          <a:p>
            <a:r>
              <a:rPr lang="en-US" dirty="0"/>
              <a:t>Page 1 of the dashboard</a:t>
            </a:r>
          </a:p>
        </p:txBody>
      </p:sp>
    </p:spTree>
    <p:extLst>
      <p:ext uri="{BB962C8B-B14F-4D97-AF65-F5344CB8AC3E}">
        <p14:creationId xmlns:p14="http://schemas.microsoft.com/office/powerpoint/2010/main" val="789773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B6EAA4-3CF9-7BEF-A721-6C3EB4FAF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D7841-FD2E-B585-3FF4-C5A0EB58E58E}"/>
              </a:ext>
            </a:extLst>
          </p:cNvPr>
          <p:cNvSpPr>
            <a:spLocks noGrp="1"/>
          </p:cNvSpPr>
          <p:nvPr>
            <p:ph type="title"/>
          </p:nvPr>
        </p:nvSpPr>
        <p:spPr>
          <a:xfrm>
            <a:off x="0" y="634511"/>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pic>
        <p:nvPicPr>
          <p:cNvPr id="5" name="Picture 4">
            <a:extLst>
              <a:ext uri="{FF2B5EF4-FFF2-40B4-BE49-F238E27FC236}">
                <a16:creationId xmlns:a16="http://schemas.microsoft.com/office/drawing/2014/main" id="{B75315C7-336A-2914-A8A5-15AAFEC57805}"/>
              </a:ext>
            </a:extLst>
          </p:cNvPr>
          <p:cNvPicPr>
            <a:picLocks noChangeAspect="1"/>
          </p:cNvPicPr>
          <p:nvPr/>
        </p:nvPicPr>
        <p:blipFill>
          <a:blip r:embed="rId2"/>
          <a:stretch>
            <a:fillRect/>
          </a:stretch>
        </p:blipFill>
        <p:spPr>
          <a:xfrm>
            <a:off x="1735692" y="1297292"/>
            <a:ext cx="8564308" cy="4912994"/>
          </a:xfrm>
          <a:prstGeom prst="rect">
            <a:avLst/>
          </a:prstGeom>
        </p:spPr>
      </p:pic>
      <p:sp>
        <p:nvSpPr>
          <p:cNvPr id="6" name="TextBox 5">
            <a:extLst>
              <a:ext uri="{FF2B5EF4-FFF2-40B4-BE49-F238E27FC236}">
                <a16:creationId xmlns:a16="http://schemas.microsoft.com/office/drawing/2014/main" id="{2534853E-43DE-5DE8-1978-48A04D9FC6DD}"/>
              </a:ext>
            </a:extLst>
          </p:cNvPr>
          <p:cNvSpPr txBox="1"/>
          <p:nvPr/>
        </p:nvSpPr>
        <p:spPr>
          <a:xfrm>
            <a:off x="4688595" y="6275754"/>
            <a:ext cx="2618790" cy="369332"/>
          </a:xfrm>
          <a:prstGeom prst="rect">
            <a:avLst/>
          </a:prstGeom>
          <a:noFill/>
        </p:spPr>
        <p:txBody>
          <a:bodyPr wrap="square" rtlCol="0">
            <a:spAutoFit/>
          </a:bodyPr>
          <a:lstStyle/>
          <a:p>
            <a:r>
              <a:rPr lang="en-US" dirty="0"/>
              <a:t>Page 2 of the dashboard</a:t>
            </a:r>
          </a:p>
        </p:txBody>
      </p:sp>
    </p:spTree>
    <p:extLst>
      <p:ext uri="{BB962C8B-B14F-4D97-AF65-F5344CB8AC3E}">
        <p14:creationId xmlns:p14="http://schemas.microsoft.com/office/powerpoint/2010/main" val="370809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0" y="801718"/>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86036" y="1804322"/>
            <a:ext cx="10515600" cy="4251960"/>
          </a:xfrm>
        </p:spPr>
        <p:txBody>
          <a:bodyPr vert="horz" lIns="91440" tIns="45720" rIns="91440" bIns="45720" rtlCol="0">
            <a:normAutofit/>
          </a:bodyPr>
          <a:lstStyle/>
          <a:p>
            <a:pPr marL="0" indent="0">
              <a:buNone/>
            </a:pPr>
            <a:r>
              <a:rPr lang="en-US" sz="2400" dirty="0"/>
              <a:t>The project successfully transforms raw e-commerce transaction data into an intuitive, high-level visual narrative. </a:t>
            </a:r>
          </a:p>
          <a:p>
            <a:pPr marL="0" indent="0">
              <a:buNone/>
            </a:pPr>
            <a:r>
              <a:rPr lang="en-US" sz="2400" dirty="0"/>
              <a:t>By automating the calculation of key performance indicators (KPIs) like Total Sales and Average Order Value, the dashboard significantly reduces the time required for management to analyze business health. </a:t>
            </a:r>
          </a:p>
          <a:p>
            <a:pPr marL="0" indent="0">
              <a:buNone/>
            </a:pPr>
            <a:r>
              <a:rPr lang="en-US" sz="2400" dirty="0"/>
              <a:t>The implementation of drill-down matrices and synced slicers proved highly effective in pinpointing exactly where the company is making—and losing—money.</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0" y="847970"/>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83702" y="1510751"/>
            <a:ext cx="10126391" cy="4705597"/>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r>
              <a:rPr lang="en-US" sz="2400" dirty="0"/>
              <a:t>Database Integration: Connect the dashboard directly to a live SQL Server or cloud database (like Azure or AWS) instead of a static CSV file for real-time automated data refreshes.</a:t>
            </a:r>
          </a:p>
          <a:p>
            <a:r>
              <a:rPr lang="en-US" sz="2400" dirty="0"/>
              <a:t>Predictive Analytics: Incorporate Power BI’s AI forecasting tools to predict next quarter's sales trends based on historical seasonality.</a:t>
            </a:r>
          </a:p>
          <a:p>
            <a:r>
              <a:rPr lang="en-US" sz="2400" dirty="0"/>
              <a:t>Returns Analysis: Integrate a secondary dataset containing "Returned Orders" to build a dedicated page analyzing product return rates and their impact on net profit.</a:t>
            </a:r>
            <a:endParaRPr lang="en-GB" sz="2400" dirty="0"/>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0" y="832980"/>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235881" y="1729190"/>
            <a:ext cx="11565350" cy="4251960"/>
          </a:xfrm>
        </p:spPr>
        <p:txBody>
          <a:bodyPr vert="horz" lIns="91440" tIns="45720" rIns="91440" bIns="45720" rtlCol="0" anchor="t">
            <a:normAutofit/>
          </a:bodyPr>
          <a:lstStyle/>
          <a:p>
            <a:pPr marL="0" indent="0">
              <a:buNone/>
            </a:pPr>
            <a:r>
              <a:rPr lang="en-IN" sz="2200" dirty="0">
                <a:latin typeface="Franklin Gothic Book"/>
              </a:rPr>
              <a:t>Dataset Source: Superstore Sales Dataset (Kaggle). </a:t>
            </a:r>
          </a:p>
          <a:p>
            <a:pPr marL="0" indent="0">
              <a:buNone/>
            </a:pPr>
            <a:r>
              <a:rPr lang="en-IN" sz="2200" dirty="0">
                <a:latin typeface="Franklin Gothic Book"/>
              </a:rPr>
              <a:t>Dataset Link: </a:t>
            </a:r>
            <a:r>
              <a:rPr lang="en-US" sz="2400" dirty="0">
                <a:hlinkClick r:id="rId2"/>
              </a:rPr>
              <a:t>https://www.kaggle.com/datasets/rohitsahoo/sales-forecasting</a:t>
            </a:r>
            <a:endParaRPr lang="en-US" sz="2400" dirty="0"/>
          </a:p>
          <a:p>
            <a:pPr marL="0" indent="0">
              <a:buNone/>
            </a:pPr>
            <a:endParaRPr lang="en-US" sz="2400" dirty="0">
              <a:latin typeface="Franklin Gothic Book"/>
            </a:endParaRPr>
          </a:p>
          <a:p>
            <a:pPr marL="0" indent="0">
              <a:buNone/>
            </a:pPr>
            <a:r>
              <a:rPr lang="en-IN" sz="2200" dirty="0">
                <a:latin typeface="Franklin Gothic Book"/>
              </a:rPr>
              <a:t>GitHub Repo Link: </a:t>
            </a:r>
            <a:r>
              <a:rPr lang="en-US" sz="2400" dirty="0">
                <a:hlinkClick r:id="rId3"/>
              </a:rPr>
              <a:t>https://github.com/ParthMahadik04/ecommerce-sales-dashboard.git</a:t>
            </a:r>
            <a:endParaRPr lang="en-US" sz="2000" dirty="0"/>
          </a:p>
          <a:p>
            <a:pPr marL="0" indent="0">
              <a:buNone/>
            </a:pPr>
            <a:endParaRPr lang="en-IN" sz="2200" u="sng" dirty="0">
              <a:solidFill>
                <a:srgbClr val="0070C0"/>
              </a:solidFill>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1048</Words>
  <Application>Microsoft Office PowerPoint</Application>
  <PresentationFormat>Widescreen</PresentationFormat>
  <Paragraphs>83</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Algorithm &amp; Deployment:</vt:lpstr>
      <vt:lpstr>Result: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Parth Mahadik</cp:lastModifiedBy>
  <cp:revision>110</cp:revision>
  <dcterms:created xsi:type="dcterms:W3CDTF">2024-05-21T11:55:07Z</dcterms:created>
  <dcterms:modified xsi:type="dcterms:W3CDTF">2026-03-14T10:48:41Z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